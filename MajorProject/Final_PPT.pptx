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71" r:id="rId2"/>
    <p:sldId id="330" r:id="rId3"/>
    <p:sldId id="320" r:id="rId4"/>
    <p:sldId id="299" r:id="rId5"/>
    <p:sldId id="285" r:id="rId6"/>
    <p:sldId id="338" r:id="rId7"/>
    <p:sldId id="333" r:id="rId8"/>
    <p:sldId id="334" r:id="rId9"/>
    <p:sldId id="319" r:id="rId10"/>
    <p:sldId id="342" r:id="rId11"/>
    <p:sldId id="340" r:id="rId12"/>
    <p:sldId id="302" r:id="rId13"/>
    <p:sldId id="339" r:id="rId14"/>
    <p:sldId id="343" r:id="rId15"/>
    <p:sldId id="346" r:id="rId16"/>
    <p:sldId id="347" r:id="rId17"/>
    <p:sldId id="345" r:id="rId18"/>
    <p:sldId id="349" r:id="rId19"/>
    <p:sldId id="336" r:id="rId20"/>
    <p:sldId id="301" r:id="rId21"/>
    <p:sldId id="337" r:id="rId22"/>
    <p:sldId id="318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9589CA-CE12-4C4D-8EDB-337045AC2F95}">
          <p14:sldIdLst>
            <p14:sldId id="271"/>
            <p14:sldId id="330"/>
            <p14:sldId id="320"/>
            <p14:sldId id="299"/>
            <p14:sldId id="285"/>
            <p14:sldId id="338"/>
            <p14:sldId id="333"/>
            <p14:sldId id="334"/>
            <p14:sldId id="319"/>
            <p14:sldId id="342"/>
            <p14:sldId id="340"/>
            <p14:sldId id="302"/>
            <p14:sldId id="339"/>
            <p14:sldId id="343"/>
            <p14:sldId id="346"/>
            <p14:sldId id="347"/>
            <p14:sldId id="345"/>
            <p14:sldId id="349"/>
            <p14:sldId id="336"/>
            <p14:sldId id="301"/>
            <p14:sldId id="337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0" autoAdjust="0"/>
    <p:restoredTop sz="95033" autoAdjust="0"/>
  </p:normalViewPr>
  <p:slideViewPr>
    <p:cSldViewPr>
      <p:cViewPr varScale="1">
        <p:scale>
          <a:sx n="55" d="100"/>
          <a:sy n="55" d="100"/>
        </p:scale>
        <p:origin x="68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8EA35-D53B-4B34-A87F-4ACFEC1A1EFC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9A576-E1E4-4792-856D-AC8E2ABCB9F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70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9918FF-F7A9-58FE-EEB7-41CF98EB4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405" y="1181100"/>
            <a:ext cx="16535400" cy="9296400"/>
          </a:xfrm>
        </p:spPr>
        <p:txBody>
          <a:bodyPr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sz="3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sz="3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US" sz="3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Interview Assistant: An AI-Powered Evaluation and Feedback System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spcBef>
                <a:spcPts val="1600"/>
              </a:spcBef>
              <a:buSzPts val="1200"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Tanveer </a:t>
            </a:r>
            <a:r>
              <a:rPr lang="en-IN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Angane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(22106057)</a:t>
            </a:r>
          </a:p>
          <a:p>
            <a:pPr>
              <a:spcBef>
                <a:spcPts val="1600"/>
              </a:spcBef>
              <a:buSzPts val="1200"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Sudhiksha </a:t>
            </a:r>
            <a:r>
              <a:rPr lang="en-IN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Aradhyula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(22106010)</a:t>
            </a:r>
            <a:endParaRPr lang="en-IN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Siddharth Chaurasiya (22106060)</a:t>
            </a: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Anish </a:t>
            </a:r>
            <a:r>
              <a:rPr lang="en-IN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Gawade</a:t>
            </a: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(22106109)</a:t>
            </a: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endParaRPr lang="en-IN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Guide Name: 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Adesh Hardas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D68D994F-2EB8-84F8-6591-23142C4482DD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8F2F64C3-720F-2A52-BB86-BDFF29E0C39C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6" name="Group 2">
            <a:extLst>
              <a:ext uri="{FF2B5EF4-FFF2-40B4-BE49-F238E27FC236}">
                <a16:creationId xmlns:a16="http://schemas.microsoft.com/office/drawing/2014/main" id="{D23B4202-9D20-49CB-93CA-E4A717069B96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65C69F4-1425-0071-F982-05C1B955A24F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0739BA5B-32E8-CC67-39F6-ECA73DBDF74F}"/>
              </a:ext>
            </a:extLst>
          </p:cNvPr>
          <p:cNvGrpSpPr/>
          <p:nvPr/>
        </p:nvGrpSpPr>
        <p:grpSpPr>
          <a:xfrm>
            <a:off x="9143820" y="9937080"/>
            <a:ext cx="9143810" cy="349920"/>
            <a:chOff x="0" y="0"/>
            <a:chExt cx="11316240" cy="46656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93F66A9-DD2A-DE4C-3127-6A069ED6D8F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pic>
        <p:nvPicPr>
          <p:cNvPr id="12" name="Picture 3">
            <a:extLst>
              <a:ext uri="{FF2B5EF4-FFF2-40B4-BE49-F238E27FC236}">
                <a16:creationId xmlns:a16="http://schemas.microsoft.com/office/drawing/2014/main" id="{0E250640-9D01-1D2B-37CB-29E0C6828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47700"/>
            <a:ext cx="12268200" cy="2183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2CDED4-5051-EEB3-D4E9-3CA0A437CC43}"/>
              </a:ext>
            </a:extLst>
          </p:cNvPr>
          <p:cNvCxnSpPr>
            <a:cxnSpLocks/>
          </p:cNvCxnSpPr>
          <p:nvPr/>
        </p:nvCxnSpPr>
        <p:spPr>
          <a:xfrm>
            <a:off x="12105" y="3086100"/>
            <a:ext cx="18288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5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DD17-6344-69FF-420F-8478E6BB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7CCF06-1922-2223-7E1F-BC96A6625D5A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67833B-B903-8691-6693-B6E23B748110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A15D71B-DAB6-D922-298D-5210AE67C214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4BBFD31-3AB2-C548-F696-A9AACFFF4529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9BBF1BB-A0A1-276A-D14B-F7BE1AE0B695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D79E737-43FF-0085-20E5-EE37CAECC557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8273FC3-3B41-41A8-DEB4-762421B07C97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EAABA55-0F9A-E5FF-86D4-BDB7FEC6B11D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4D1B16-1396-D9DD-B5D9-94D5016E4B0C}"/>
              </a:ext>
            </a:extLst>
          </p:cNvPr>
          <p:cNvSpPr txBox="1"/>
          <p:nvPr/>
        </p:nvSpPr>
        <p:spPr>
          <a:xfrm>
            <a:off x="990600" y="1045645"/>
            <a:ext cx="15621000" cy="8847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ctr">
              <a:lnSpc>
                <a:spcPts val="5633"/>
              </a:lnSpc>
            </a:pP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Outline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 of the existing systems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Limitations of the existing systems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 and Objective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Setup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Conclusion and future work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Research Paper Publication / Patent/ Copyright status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300000"/>
              </a:lnSpc>
              <a:buFont typeface="Arial"/>
              <a:buChar char="•"/>
            </a:pPr>
            <a:endParaRPr lang="en-US" sz="3200" spc="-2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283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CA3C3-BBB5-DB78-9E1F-C20AFDA0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00830D-585F-D008-A43C-93D81386A727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CD9D9D-6189-BC45-A384-8A02BC89DB5A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9354A94-6C58-ED74-FECE-E156D6A001DF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068C0E-6832-F61B-C0BE-F44D78FE6A5F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689438A-CD53-B5C3-126C-001D8D9E2854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A5FB9FC-1CDF-2D42-BEDA-CF36B53EA24F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C94FE9E-7A10-8A70-517D-438021521551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D30F0D-DA30-3F6D-A0DE-F32DC23914E8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6CEAE1-1A9B-023E-72AC-D11DBE1265BE}"/>
              </a:ext>
            </a:extLst>
          </p:cNvPr>
          <p:cNvSpPr txBox="1"/>
          <p:nvPr/>
        </p:nvSpPr>
        <p:spPr>
          <a:xfrm>
            <a:off x="990600" y="876300"/>
            <a:ext cx="15849600" cy="8468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19439" lvl="1" algn="just">
              <a:lnSpc>
                <a:spcPts val="5633"/>
              </a:lnSpc>
            </a:pP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competitive job market, interviews are a crucial step for evaluating a candidate's skills and personality.</a:t>
            </a: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 methods often suffer from challenges such as scheduling conflicts, subjective evaluations, and a lack of detailed feedback for candidates.</a:t>
            </a: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advancements in Artificial Intelligence (AI) and Natural Language Processing (NLP) provide new opportunities to transform the recruitment process.</a:t>
            </a: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Interview Assistant is designed to address these issues by integrating AI-powered question generation, resume parsing, and real-time feedback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83016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1723-E9B8-675A-99E4-78C6030E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F853A2-59D1-D7A4-65C8-2E63B5F68F29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938839-444D-05B8-4615-DBF7BB14C79E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CDC313F-D85F-689C-A862-FF7D0D0C1515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209510-D7EC-43AB-B990-DBC6C20828C6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C1ACCF9-7C6F-CD89-3253-E5501E2684B3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AB0DC19-08B1-45AD-0024-68B1A70D4DB7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5DA3FAF-8E95-1806-6FC5-BA07B4EDFD47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812B4A-0D8E-80C5-EF46-9E34E7CEC47E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1AFC21-E777-D195-2878-FFEAB7C41DA7}"/>
              </a:ext>
            </a:extLst>
          </p:cNvPr>
          <p:cNvSpPr txBox="1"/>
          <p:nvPr/>
        </p:nvSpPr>
        <p:spPr>
          <a:xfrm>
            <a:off x="914400" y="816617"/>
            <a:ext cx="16002000" cy="7966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19439" lvl="1" algn="just">
              <a:lnSpc>
                <a:spcPts val="5633"/>
              </a:lnSpc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traditional interview process is time-consuming, biased, and lacks detailed feedback. Existing AI tools offer only partial solutions, failing to provide a comprehensive, transparent, and affordable platform.</a:t>
            </a: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Need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significant gap exists for a system that can generate personalized, resume-based questions, conduct AI-driven interviews, and provide objective feedback on both verbal and non-verbal cues.</a:t>
            </a: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Opportunity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Advances in AI and NLP present a unique opportunity to automate interviews, generate personalized questions, and provide data-backed feedback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Commercial solutions are expensive and not feasible for small companies or academic institutions, creating a need for an affordable alternative</a:t>
            </a: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74285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/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/>
          <p:cNvSpPr txBox="1"/>
          <p:nvPr/>
        </p:nvSpPr>
        <p:spPr>
          <a:xfrm>
            <a:off x="838200" y="723900"/>
            <a:ext cx="16002000" cy="8330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439" lvl="1" algn="just">
              <a:lnSpc>
                <a:spcPts val="5633"/>
              </a:lnSpc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Platform: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 AI-powered interview platform that integrates video/audio recording, transcription, and question generation.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resume parser that extracts candidate details and generates personalized interview questions.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real-time feedback mechanisms based on clarity, confidence, body language, and emotions.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 and Fairness: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fairness, transparency, and affordability by leveraging open-source models and APIs.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Reporting: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 comprehensive PDF report summarizing the candidate’s performance, strengths, and areas of improvement.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Scalability Objectives: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production-ready deployment on Firebase hosting.</a:t>
            </a:r>
          </a:p>
          <a:p>
            <a:pPr marL="419439" lvl="1"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30532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D1B4-D069-B990-2119-46B3068D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7F5CFC-C10E-A1F2-8089-1C3AF706F588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E54C64-38BB-6B3A-1591-10857E19AF4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25987A4-BEDF-CFC9-7251-89379D280C3E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6F065AE-17D1-9F00-7DB4-1A12A616DA46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FBAA41C-DF15-62D1-6BB9-A1157FF0113C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707884B-31AE-16D6-E275-06D1CC5BCE4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360D255-8C07-281F-C07F-6DB4585531C7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4E8D644-A1ED-BEB6-A876-F4354579DA8E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167B21-CBA3-9A0B-E407-9E7CF348627C}"/>
              </a:ext>
            </a:extLst>
          </p:cNvPr>
          <p:cNvSpPr txBox="1"/>
          <p:nvPr/>
        </p:nvSpPr>
        <p:spPr>
          <a:xfrm>
            <a:off x="-152400" y="465030"/>
            <a:ext cx="15392400" cy="1210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19439" lvl="1"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C32EBA-98E8-5214-0752-61655415C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1" y="1204252"/>
            <a:ext cx="18059374" cy="88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7888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FD19-F2A6-F64F-F565-32C0C479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9E2662-93FD-89F5-4589-E9BDE972E9C0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FDEFCB-6A21-FBF6-0978-1A225215E140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5BB509D-43E7-5118-7A29-005FF64DD235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C9CA556-7BB7-5D4D-9066-F59E808A179D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2041419-5836-CB71-41F5-83D68EA1FFC5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7D76B05-8978-DEC4-B923-407D7CD5151A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9FD0A99-B371-2D09-C840-27C9DD8DEEA1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8433E10-FF68-881C-A05D-9526263665EF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DBA230-9FE2-81A0-262B-683C2BECC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75194"/>
              </p:ext>
            </p:extLst>
          </p:nvPr>
        </p:nvGraphicFramePr>
        <p:xfrm>
          <a:off x="490537" y="431895"/>
          <a:ext cx="17297401" cy="14788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748610864"/>
                    </a:ext>
                  </a:extLst>
                </a:gridCol>
                <a:gridCol w="3247853">
                  <a:extLst>
                    <a:ext uri="{9D8B030D-6E8A-4147-A177-3AD203B41FA5}">
                      <a16:colId xmlns:a16="http://schemas.microsoft.com/office/drawing/2014/main" val="807150200"/>
                    </a:ext>
                  </a:extLst>
                </a:gridCol>
                <a:gridCol w="2774560">
                  <a:extLst>
                    <a:ext uri="{9D8B030D-6E8A-4147-A177-3AD203B41FA5}">
                      <a16:colId xmlns:a16="http://schemas.microsoft.com/office/drawing/2014/main" val="876705859"/>
                    </a:ext>
                  </a:extLst>
                </a:gridCol>
                <a:gridCol w="2435271">
                  <a:extLst>
                    <a:ext uri="{9D8B030D-6E8A-4147-A177-3AD203B41FA5}">
                      <a16:colId xmlns:a16="http://schemas.microsoft.com/office/drawing/2014/main" val="3127819084"/>
                    </a:ext>
                  </a:extLst>
                </a:gridCol>
                <a:gridCol w="3259712">
                  <a:extLst>
                    <a:ext uri="{9D8B030D-6E8A-4147-A177-3AD203B41FA5}">
                      <a16:colId xmlns:a16="http://schemas.microsoft.com/office/drawing/2014/main" val="2044517447"/>
                    </a:ext>
                  </a:extLst>
                </a:gridCol>
                <a:gridCol w="3751205">
                  <a:extLst>
                    <a:ext uri="{9D8B030D-6E8A-4147-A177-3AD203B41FA5}">
                      <a16:colId xmlns:a16="http://schemas.microsoft.com/office/drawing/2014/main" val="3259035426"/>
                    </a:ext>
                  </a:extLst>
                </a:gridCol>
              </a:tblGrid>
              <a:tr h="14788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(Short)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Algorithm(s) / Methods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Dataset(s) Used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/ Takeaway for Smart Interview Assistant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01704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BCD762-EE35-FDE3-EEDD-BDD2BD9CB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814167"/>
              </p:ext>
            </p:extLst>
          </p:nvPr>
        </p:nvGraphicFramePr>
        <p:xfrm>
          <a:off x="490537" y="1910746"/>
          <a:ext cx="17278349" cy="13716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401521248"/>
                    </a:ext>
                  </a:extLst>
                </a:gridCol>
                <a:gridCol w="3242260">
                  <a:extLst>
                    <a:ext uri="{9D8B030D-6E8A-4147-A177-3AD203B41FA5}">
                      <a16:colId xmlns:a16="http://schemas.microsoft.com/office/drawing/2014/main" val="4289523765"/>
                    </a:ext>
                  </a:extLst>
                </a:gridCol>
                <a:gridCol w="2771504">
                  <a:extLst>
                    <a:ext uri="{9D8B030D-6E8A-4147-A177-3AD203B41FA5}">
                      <a16:colId xmlns:a16="http://schemas.microsoft.com/office/drawing/2014/main" val="1240505394"/>
                    </a:ext>
                  </a:extLst>
                </a:gridCol>
                <a:gridCol w="2432589">
                  <a:extLst>
                    <a:ext uri="{9D8B030D-6E8A-4147-A177-3AD203B41FA5}">
                      <a16:colId xmlns:a16="http://schemas.microsoft.com/office/drawing/2014/main" val="1469861903"/>
                    </a:ext>
                  </a:extLst>
                </a:gridCol>
                <a:gridCol w="3256121">
                  <a:extLst>
                    <a:ext uri="{9D8B030D-6E8A-4147-A177-3AD203B41FA5}">
                      <a16:colId xmlns:a16="http://schemas.microsoft.com/office/drawing/2014/main" val="2748317519"/>
                    </a:ext>
                  </a:extLst>
                </a:gridCol>
                <a:gridCol w="3747074">
                  <a:extLst>
                    <a:ext uri="{9D8B030D-6E8A-4147-A177-3AD203B41FA5}">
                      <a16:colId xmlns:a16="http://schemas.microsoft.com/office/drawing/2014/main" val="3672373598"/>
                    </a:ext>
                  </a:extLst>
                </a:gridCol>
              </a:tblGrid>
              <a:tr h="137160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Fairness in AI-Driven Recruitment: Challenges, Metrics, Mitigations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on fairness &amp; bias in recruitment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fairness metrics, adversarial debiasing, auditing methods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Meta-analysis of AI recruitment systems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standardized fairness audits → must integrate fairness checks and bias mitigation in AI hiring tools.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01207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5CEAD7-B02F-0B5F-CF41-946CD1BE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84863"/>
              </p:ext>
            </p:extLst>
          </p:nvPr>
        </p:nvGraphicFramePr>
        <p:xfrm>
          <a:off x="490537" y="3288094"/>
          <a:ext cx="17278348" cy="6096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2">
                  <a:extLst>
                    <a:ext uri="{9D8B030D-6E8A-4147-A177-3AD203B41FA5}">
                      <a16:colId xmlns:a16="http://schemas.microsoft.com/office/drawing/2014/main" val="4191969036"/>
                    </a:ext>
                  </a:extLst>
                </a:gridCol>
                <a:gridCol w="3242259">
                  <a:extLst>
                    <a:ext uri="{9D8B030D-6E8A-4147-A177-3AD203B41FA5}">
                      <a16:colId xmlns:a16="http://schemas.microsoft.com/office/drawing/2014/main" val="214686872"/>
                    </a:ext>
                  </a:extLst>
                </a:gridCol>
                <a:gridCol w="2771503">
                  <a:extLst>
                    <a:ext uri="{9D8B030D-6E8A-4147-A177-3AD203B41FA5}">
                      <a16:colId xmlns:a16="http://schemas.microsoft.com/office/drawing/2014/main" val="3197628385"/>
                    </a:ext>
                  </a:extLst>
                </a:gridCol>
                <a:gridCol w="2432588">
                  <a:extLst>
                    <a:ext uri="{9D8B030D-6E8A-4147-A177-3AD203B41FA5}">
                      <a16:colId xmlns:a16="http://schemas.microsoft.com/office/drawing/2014/main" val="1249291622"/>
                    </a:ext>
                  </a:extLst>
                </a:gridCol>
                <a:gridCol w="3256121">
                  <a:extLst>
                    <a:ext uri="{9D8B030D-6E8A-4147-A177-3AD203B41FA5}">
                      <a16:colId xmlns:a16="http://schemas.microsoft.com/office/drawing/2014/main" val="3479535414"/>
                    </a:ext>
                  </a:extLst>
                </a:gridCol>
                <a:gridCol w="3747075">
                  <a:extLst>
                    <a:ext uri="{9D8B030D-6E8A-4147-A177-3AD203B41FA5}">
                      <a16:colId xmlns:a16="http://schemas.microsoft.com/office/drawing/2014/main" val="3442606311"/>
                    </a:ext>
                  </a:extLst>
                </a:gridCol>
              </a:tblGrid>
              <a:tr h="20320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Automated Video Interviews Smart Enough? Behavioral Modes, Reliability, Validity, and Bias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interview evaluation (verbal, paraverbal, nonverbal)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multi-modal behavior analysis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Proprietary annotated interview datasets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Verbal cues outperform nonverbal for validity; careful feature selection and validation are needed.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4554"/>
                  </a:ext>
                </a:extLst>
              </a:tr>
              <a:tr h="20320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Automated Scoring of Prosody in Oral Reading Fluency (Frontiers in Education, 2024)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Speech/prosody assessment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prosodic feature extraction and fluency scoring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oral reading corpora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Prosody scoring still weak for spontaneous conversational speech (as in interviews).</a:t>
                      </a:r>
                      <a:endParaRPr lang="en-IN" sz="2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303952"/>
                  </a:ext>
                </a:extLst>
              </a:tr>
              <a:tr h="20319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Model-Powered Automated Assessment (Systematic Review, 2018–2024)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assessment &amp; feedback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LLM scoring and feedback generation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Aggregated datasets from 2018–2024 studies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generate human-like feedback but risk inconsistency, rubric misalignment, and bias without monitoring.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4116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94A5-1D9A-2AD6-34F9-5B0F3C1C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803B3E-6D71-2E19-5678-0F6948033ABA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89F93A-129E-1FFB-D410-47636480A2A4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6A94A2E-0A7B-AA97-83A3-2EE2845172E9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296FDBF-4766-0314-3B49-7D65B8D5276A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ECF44EB-4450-C2DC-5267-6B7DC2966131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2EE0B6B-265C-DFDF-5161-0567E2FAAD53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03869B3-B813-0CA8-9F82-FCC78A0EB04B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89745F7-29C5-15BF-51BF-DCC63D99C3D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977456-3AEB-8644-BB62-C6940A9FC2F2}"/>
              </a:ext>
            </a:extLst>
          </p:cNvPr>
          <p:cNvSpPr txBox="1"/>
          <p:nvPr/>
        </p:nvSpPr>
        <p:spPr>
          <a:xfrm>
            <a:off x="762000" y="723900"/>
            <a:ext cx="16078200" cy="9048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Bias in Evaluation: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Many current AI platforms have been criticized for evaluations that are biased by factors like gender, race, or accent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Cost: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Commercial solutions are often expensive, making them inaccessible for small companies and academic institutions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Feedback: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Existing systems typically only provide textual feedback and lack detailed analysis of non-verbal cues like body language and expressions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Poor Integration: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Many tools focus on a single aspect (e.g., transcription or video recording) instead of offering a complete, end-to-end solution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Customization: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Few platforms can generate interview questions that are personalized based on a candidate's resume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750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426F-BD6F-1B83-67CC-F6C3DA8C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4B0D8C-6968-D42A-97F3-34050A5F28DC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DA3596-3BF6-908F-8215-537357463D38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F989AA-FB2B-2653-5188-AD39EC415612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7D14E8-F75D-6DE5-FC70-DCDEB6670480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C193D7E-01F1-0520-7A75-52E7C244C7A7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117E199-005D-D22B-7665-060CA03273C8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797D7D9-B2A5-95F3-04BB-06F00D55D6E4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9E75E03-92F5-6658-9639-A84DDA96B64A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610B05-B09F-5E82-9A78-FDC204062159}"/>
              </a:ext>
            </a:extLst>
          </p:cNvPr>
          <p:cNvSpPr txBox="1"/>
          <p:nvPr/>
        </p:nvSpPr>
        <p:spPr>
          <a:xfrm>
            <a:off x="685800" y="1002999"/>
            <a:ext cx="16440149" cy="369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19439" lvl="1" algn="just">
              <a:lnSpc>
                <a:spcPts val="5633"/>
              </a:lnSpc>
            </a:pP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3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To create a comprehensive, transparent, and affordable AI-driven system that overcomes the      	limitations of traditional interviews and existing partial solutions by providing detailed, 	objective feedback to both candidates and recruiters.</a:t>
            </a:r>
          </a:p>
        </p:txBody>
      </p:sp>
    </p:spTree>
    <p:extLst>
      <p:ext uri="{BB962C8B-B14F-4D97-AF65-F5344CB8AC3E}">
        <p14:creationId xmlns:p14="http://schemas.microsoft.com/office/powerpoint/2010/main" val="59006673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639F-0F25-686A-0BF5-135A1E1A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6C227D-EEB9-A02C-1F2C-A2691775758D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A7D3E6-B555-2EC5-882F-B7BB25C37634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81EB8FB-AC40-548C-9360-EB9AB7AE9D99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8C6ACE7-E6DC-CC56-A21E-2479134E444C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7D2A12F-9B61-86BA-B7A0-BF1739DDF1AC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A729DF2-973C-E4F5-0BA9-98C3621E7A7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1DC6237-2607-44E2-73D2-EE0B38ED2779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E8B38D3-3CBF-DF8F-6E95-8C38A792D428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AF4494-045E-5E9A-CD8A-AEA4848DC384}"/>
              </a:ext>
            </a:extLst>
          </p:cNvPr>
          <p:cNvSpPr txBox="1"/>
          <p:nvPr/>
        </p:nvSpPr>
        <p:spPr>
          <a:xfrm>
            <a:off x="762000" y="849254"/>
            <a:ext cx="16383000" cy="1209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Design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IN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107184-AD48-E33B-19DE-6FED18BD4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14500"/>
            <a:ext cx="14097000" cy="76427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570800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50A38-27BD-2964-55AF-0AA3AC3D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D77E46-9625-D635-0411-46F5AE41EBD7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297397-0F65-D209-76CF-B62E27EE79A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02C7DC6-5451-9F07-F22A-6B7699DBBC1E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4B924D-BCF5-3248-63AB-BDA08024909A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F434C75-A19E-F090-105D-3911DF52899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93CEC0-99C0-6A74-189A-782BABB35509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98C3874-730D-4D47-4FB2-1B520F0E1F9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4D8946-ABF5-025D-8CBA-6D2EA516D50F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597519-C1D6-E88B-E5E6-2044F7A62155}"/>
              </a:ext>
            </a:extLst>
          </p:cNvPr>
          <p:cNvSpPr txBox="1"/>
          <p:nvPr/>
        </p:nvSpPr>
        <p:spPr>
          <a:xfrm>
            <a:off x="957263" y="677562"/>
            <a:ext cx="15959137" cy="92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Design</a:t>
            </a:r>
          </a:p>
          <a:p>
            <a:pPr marL="876639" lvl="1" indent="-457200" algn="just">
              <a:lnSpc>
                <a:spcPts val="5633"/>
              </a:lnSpc>
              <a:buFont typeface="Arial" panose="020B0604020202020204" pitchFamily="34" charset="0"/>
              <a:buChar char="•"/>
            </a:pPr>
            <a:r>
              <a:rPr lang="en-IN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Design:</a:t>
            </a:r>
            <a:r>
              <a:rPr lang="en-IN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proposed system will be a seamless, cloud-hosted platform that integrates several key components.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3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Parser: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candidate details to generate customized interview questions.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Transcription: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Transcribes real-time audio from interviews.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Question Generation: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role-specific and personalized questions.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Analysis: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communication clarity, confidence, and body language.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Analysis: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emotions and expressions.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PDF Report: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Summarizes performance, strengths, and areas for improvement for both candidates and recruiters.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IN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2614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30CE-B31A-D1B2-A708-4A811D8A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896D8F-35A9-33FB-D3B0-812A7645D8B0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AF3189A-5714-1C7F-F14B-21D0C80B61E7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93D8B56-21D7-72FB-7CB6-0444C0718CE3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2BFA01-AA18-1E1C-2C96-D1184FE73669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6C4069D-C9D2-F476-DE6F-D86CA897D0C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94E5650-1D52-7341-3A29-50ABD5E178B8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240D877-BBBD-4787-8BAB-E55F29B29940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CF7A4F8-393D-C38D-5D81-3D3418596EB0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0889D7-CEA9-F51C-A707-8CBFA80E99C8}"/>
              </a:ext>
            </a:extLst>
          </p:cNvPr>
          <p:cNvSpPr txBox="1"/>
          <p:nvPr/>
        </p:nvSpPr>
        <p:spPr>
          <a:xfrm>
            <a:off x="990600" y="1045645"/>
            <a:ext cx="15925800" cy="8278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419439" lvl="1" algn="just">
              <a:lnSpc>
                <a:spcPts val="5633"/>
              </a:lnSpc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18 with TypeScript, Vite,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shadcn-ui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Services: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Functions (Node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(NoSQL database)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Services: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Llama 3 model (local AI processing), Google Gemini API (cloud AI fallback)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Side: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i5 or equivalent, 8 GB RAM and a 720p HD webcam, Microphone (Built-in).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Cloud Platform,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Functions with 2 GB RAM,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automatic scaling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60A272-2E1D-A772-A208-6B90A95CC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8858" y="522840"/>
            <a:ext cx="1669351" cy="16693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6E9C3D-E9CC-10FC-0786-EAE149440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7484" y="522840"/>
            <a:ext cx="1669352" cy="16693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06B9B7-FB8A-46A8-D008-F504DE0CB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724" y="2262000"/>
            <a:ext cx="1669352" cy="16693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952CCC-28BC-E2EE-7961-AC0462FA3C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522840"/>
            <a:ext cx="1669351" cy="16693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4A0A7F-5D83-2133-D68A-7BD682875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46" y="651188"/>
            <a:ext cx="1412654" cy="14126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E61BDC-B849-CDFD-89F0-06FBDC3076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5179" y="3855343"/>
            <a:ext cx="1443621" cy="15434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DF2BE5D-1411-97F7-186D-7A8BB7383B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9258" y="2480940"/>
            <a:ext cx="1825229" cy="136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658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5330-4F3A-BE3C-58E4-3F461D82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73EDB7-2DDB-D557-8CEE-EE54CEB9E26D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756A4A-6629-D59D-D4F6-A05C36E90F1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2E0BE2B-60D4-8739-476E-028F35D1EE3D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6092654-0EAC-EF0F-054D-50B6566E7C77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772A903-D64F-DD84-453D-E03FD8BC44E5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B8680DB-F43B-23DD-9E66-432075A21DC6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7E78870-0F98-7E21-412F-4A43CF5D217D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78E4D8B-52B7-45FA-A031-81BE70F8B0F1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0D849F7-0202-7323-7739-03FE0820F046}"/>
              </a:ext>
            </a:extLst>
          </p:cNvPr>
          <p:cNvSpPr txBox="1"/>
          <p:nvPr/>
        </p:nvSpPr>
        <p:spPr>
          <a:xfrm>
            <a:off x="990600" y="1028700"/>
            <a:ext cx="15773400" cy="689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419439" lvl="1" algn="just">
              <a:lnSpc>
                <a:spcPts val="5633"/>
              </a:lnSpc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Used</a:t>
            </a: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llama3:latest (8B parameters)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question generation, answer evaluation, resume parsing</a:t>
            </a:r>
          </a:p>
          <a:p>
            <a:pPr lvl="2">
              <a:lnSpc>
                <a:spcPct val="150000"/>
              </a:lnSpc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(Cloud Fallback):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gemini-1.5-flash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LLM API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 AI service when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unavailable</a:t>
            </a:r>
          </a:p>
        </p:txBody>
      </p:sp>
    </p:spTree>
    <p:extLst>
      <p:ext uri="{BB962C8B-B14F-4D97-AF65-F5344CB8AC3E}">
        <p14:creationId xmlns:p14="http://schemas.microsoft.com/office/powerpoint/2010/main" val="33968211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7EE1-1681-CC5D-83E2-38449380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CB88D0-F90A-502E-4DEE-07539CECAC37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6A53EB-2A1B-C339-04C8-3B80BB759A6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766C1C7-07D2-D7EA-C6E4-59582158B4A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B794F47-78F7-E984-62C1-FD429CAA50DB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28459D0-6DC3-20B8-BABF-3AE944224B4C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FAE085A-4345-4A89-1B61-88EAA677816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A96671B-59C9-786B-2E78-30FE03FF918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FCDD51F-1669-6F86-9E69-1FF9A4B91BB2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00B405-65B2-E582-5FBD-40EDA4D3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59" y="1189593"/>
            <a:ext cx="16564607" cy="79078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B73426F1-4044-6BA2-9E4A-EE0A92FAF937}"/>
              </a:ext>
            </a:extLst>
          </p:cNvPr>
          <p:cNvSpPr txBox="1"/>
          <p:nvPr/>
        </p:nvSpPr>
        <p:spPr>
          <a:xfrm>
            <a:off x="457200" y="487028"/>
            <a:ext cx="14401800" cy="67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51389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B907-0FF7-DC9C-318C-DF3A775B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AE252F-EBAF-FAA1-B0BB-BEA115DFFB9E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ECD8A0C-236B-8EAB-6840-815932944D28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46AC9D3-9B8A-F488-E6EE-96A82C211F9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58CB4E2-AC35-B14E-5AD1-996560EA695E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CEA9CF5-DF6E-E2E8-7CF5-B8DC1608CCD6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38141E2-7264-2D92-7FCA-1561A00360FC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06948D9-8B03-4A11-EDC7-C73126EE33A3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53A20A5-872A-F1A8-634C-9EC2C35002A7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5A678-4A4C-3B44-67A7-E6C92AD6E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80494"/>
            <a:ext cx="15925800" cy="8326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971804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CACB-3A25-BBF1-46AC-D5C5C413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CF9C31-51FD-3BBD-224A-A1EFFF63835B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22D3A7-A959-269A-DCB0-080501B39E3C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1282451-6D16-BD9B-7C52-0E72A678D724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5A1B1C7-1B93-FF4A-BF54-A154B59F3224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2C7F1CE-CA96-B4E3-7CC2-05EFB8FDE282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D683634-5163-A41D-DF97-C1ECDF263A91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4C395D3-3429-4380-198D-9DBF7D7FE420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8D3A794-414B-71C3-1A5A-990DA1B3C8B0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61DDD-23B0-1AFE-CB36-CE3258D78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28073"/>
            <a:ext cx="17068800" cy="86308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613831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59C9E-F53B-738A-CBD6-883CC926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244039-E082-533A-C8F1-22DA84EBE51A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11AF9B-304A-41A9-A5EC-BCB8C006E253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2B9AC74-3653-C7C0-821A-4DB09BDA5221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9E106E-5055-5E6B-AEDD-D7011711EF49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0D76CFF-A5E8-357A-D984-E43F6D1BA330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0F9F0F1-9E99-0B2D-E1A1-898B3FB76AF9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947FC2E-4137-C96C-9EAF-DC847672DF9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2C72672-AF06-D989-2963-08505032E0F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2E364-30CF-5596-E4DE-478DD53FA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89994"/>
            <a:ext cx="16230600" cy="8507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1505658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A21C-DA41-F4B2-BFCF-1A71A3A7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FE94A2-B3BA-BA2F-06B5-76D5E1C91E09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D9B6CB-B876-2C5B-2196-AC95AE2543F7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4ACC0C3-089D-1E8C-CD9F-FAFD37320D9C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9507A6-8890-B7E1-1764-25FDF161524A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272750F-7904-B265-AADD-AA68CC80827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52AD2AF-0496-F2C7-875F-A3B8C2F50FC5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87FB8337-F45C-BA50-D7CD-30CA930ECEC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DAE6142-1EB1-C2C4-C75D-BF2C347E256B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9F194-E1D5-889F-7E69-3342E9D91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799508"/>
            <a:ext cx="15621000" cy="8688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3796693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77D9B-0CEC-5102-0C4D-7AAD399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CE33591-B465-6ABB-E821-4A7F42159059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A426F8-2C2F-848E-4D60-9AF43FA8701A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945BFF3-1F67-E915-B874-6F744157FB9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B6B3AF-0BE4-0128-4CAD-25EC851C9284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F07B80F-CB59-EA8C-3BBD-96A3D36A27E7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A523E31-D137-A5A3-5A87-739662A2BBA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DEABBCD-D7E2-B4DB-446D-BB01885697B8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6A67E77-8D47-98FB-3816-40C6BADD8B0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460352-5E0B-6321-DFC7-E018C37F5CE4}"/>
              </a:ext>
            </a:extLst>
          </p:cNvPr>
          <p:cNvSpPr txBox="1"/>
          <p:nvPr/>
        </p:nvSpPr>
        <p:spPr>
          <a:xfrm>
            <a:off x="838200" y="723900"/>
            <a:ext cx="15849600" cy="8630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ct val="150000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419439" lvl="1"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Candidates:</a:t>
            </a:r>
          </a:p>
          <a:p>
            <a:pPr marL="13716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platform for practicing interviews with instant feedback.</a:t>
            </a:r>
          </a:p>
          <a:p>
            <a:pPr marL="13716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and confidence.</a:t>
            </a:r>
          </a:p>
          <a:p>
            <a:pPr marL="914400" marR="0" lvl="1" indent="334963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Identification of personal strengths and weaknesses.</a:t>
            </a:r>
          </a:p>
          <a:p>
            <a:pPr marL="914400" marR="0" lvl="1" indent="334963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I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439" lvl="1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Educational Institutions:</a:t>
            </a:r>
          </a:p>
          <a:p>
            <a:pPr marL="1333839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automated training platform for students preparing for campus placements</a:t>
            </a:r>
          </a:p>
          <a:p>
            <a:pPr marL="1333839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student progress and performance metrics for institutional analytics.</a:t>
            </a:r>
          </a:p>
          <a:p>
            <a:pPr marL="1333839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Operational Outcomes:</a:t>
            </a:r>
          </a:p>
          <a:p>
            <a:pPr marL="1341438" lvl="1" indent="-44291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implementation of hybrid AI system (local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cloud Gemini)</a:t>
            </a:r>
          </a:p>
          <a:p>
            <a:pPr marL="1341438" lvl="1" indent="-44291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90%+ accuracy in interview question generation and feedback evaluation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07234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CC0C-29CD-D6CE-1EC9-6B10CC32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5C39FE-263F-61F9-8C16-113652FD6D30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AD89A9-106B-B1DA-AAA3-481195D6F90A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51C4CF7-CB38-889E-0D78-7C27966A33E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E26B3DD-9076-D383-5A12-045208ED6DA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34BEA09-8DE2-D1B3-A470-D8AC4A144B5D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711AA5E-B131-8BF2-D45A-3618389DC779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8E080F6-F39B-5B84-47CE-F6F6A125E7FB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4FB6E89-499B-0405-9F60-746E471764AB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C3EAB3E-3878-73D1-7407-C12603524A8F}"/>
              </a:ext>
            </a:extLst>
          </p:cNvPr>
          <p:cNvSpPr txBox="1"/>
          <p:nvPr/>
        </p:nvSpPr>
        <p:spPr>
          <a:xfrm>
            <a:off x="838200" y="1132256"/>
            <a:ext cx="16002000" cy="4925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19439" lvl="1" algn="just">
              <a:lnSpc>
                <a:spcPts val="5633"/>
              </a:lnSpc>
            </a:pPr>
            <a:endParaRPr kumimoji="0" lang="en-I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439" lvl="1" algn="just">
              <a:lnSpc>
                <a:spcPts val="5633"/>
              </a:lnSpc>
            </a:pP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AI Mock Interview Platform successfully addresses the critical gaps in traditional interview preparation by delivering a comprehensive, intelligent solution that combines realistic practice simulations, personalized question generation, multi-dimensional performance analysis, and detailed actionable feedback. By leveraging advanced AI technologies including local </a:t>
            </a:r>
            <a:r>
              <a:rPr kumimoji="0" lang="en-US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and cloud-based Gemini API, the platform ensures accessibility, affordability, and privacy while maintaining high accuracy and reliability.</a:t>
            </a:r>
            <a:endParaRPr kumimoji="0" lang="en-IN" sz="2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9637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9AF7-1EB7-67D6-077E-B9B05572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1763F8-A843-4819-BDDB-77C3BF811A5D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3790B25-346C-03D7-414E-7311CCF815B5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2B225E4-5953-033E-A1D1-467F45BF556A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3EB093-346F-4302-2BFA-CE7AE3C838B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442EDE5-89F7-E0FA-8375-4243B5B8C6B8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9841EF5-53FD-ACE9-42B9-AFDD04E32F2A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594C422-3E5C-C6D9-138F-449FAD575314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C3AF593-5647-CA97-CF12-9922A1E771D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9A1EC27-00E0-D593-168D-1DB4A63EE543}"/>
              </a:ext>
            </a:extLst>
          </p:cNvPr>
          <p:cNvSpPr txBox="1"/>
          <p:nvPr/>
        </p:nvSpPr>
        <p:spPr>
          <a:xfrm>
            <a:off x="990600" y="1045645"/>
            <a:ext cx="14401800" cy="1392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19439" lvl="1" algn="just">
              <a:lnSpc>
                <a:spcPts val="5633"/>
              </a:lnSpc>
            </a:pP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43F63-3B87-3F53-30BE-CFCAE356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4752"/>
            <a:ext cx="15468600" cy="767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3092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A246-D089-9274-8310-23CB1EE8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11FF9B-BF96-834D-7191-F7AC13D0797E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4CF071-578A-5DC9-4DC0-A43D56FB5F16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1F87EA5-A8DC-6D68-1CCD-C9A0A63E2151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B15075-99BB-B6FB-9EBC-F2493CBE4CB0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44479D0-C662-0D11-49FE-34481A62A5F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09189FA-FD2D-791C-F4E4-3CB4DD5C918C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88588A5-52FA-FB06-4E75-C5EA2D160210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F4A0EA1-1568-C3C4-75D4-283C49E6DBFC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DFB542-D1BE-BC17-57C9-ADCF445146D9}"/>
              </a:ext>
            </a:extLst>
          </p:cNvPr>
          <p:cNvSpPr txBox="1"/>
          <p:nvPr/>
        </p:nvSpPr>
        <p:spPr>
          <a:xfrm>
            <a:off x="609600" y="1045645"/>
            <a:ext cx="16916400" cy="5193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ctr">
              <a:lnSpc>
                <a:spcPct val="300000"/>
              </a:lnSpc>
            </a:pPr>
            <a:r>
              <a:rPr lang="en-US" sz="13800" spc="-2" dirty="0">
                <a:solidFill>
                  <a:srgbClr val="000000"/>
                </a:solidFill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924470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2188</TotalTime>
  <Words>1190</Words>
  <Application>Microsoft Office PowerPoint</Application>
  <PresentationFormat>Custom</PresentationFormat>
  <Paragraphs>148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Courier New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dc:creator>MR: Sidd</dc:creator>
  <cp:lastModifiedBy>Sarita Angane</cp:lastModifiedBy>
  <cp:revision>54</cp:revision>
  <dcterms:created xsi:type="dcterms:W3CDTF">2006-08-16T00:00:00Z</dcterms:created>
  <dcterms:modified xsi:type="dcterms:W3CDTF">2025-10-31T06:12:11Z</dcterms:modified>
  <dc:identifier>DAFpedFX0BM</dc:identifier>
</cp:coreProperties>
</file>